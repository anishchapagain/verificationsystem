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44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0"/>
            <a:ext cx="8979408" cy="2103120"/>
          </a:xfrm>
          <a:prstGeom prst="rect">
            <a:avLst/>
          </a:prstGeom>
          <a:solidFill>
            <a:srgbClr val="1E4E8C">
              <a:alpha val="70000"/>
            </a:srgbClr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642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3042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- Investment &amp; Approval Proposal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Fraud Prevention for Banking Operations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13305A"/>
          </a:solidFill>
          <a:ln w="12700">
            <a:solidFill>
              <a:srgbClr val="133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256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+ AI Team</a:t>
            </a:r>
            <a:r>
              <a:rPr lang="en-US" sz="1000" dirty="0">
                <a:solidFill>
                  <a:srgbClr val="7AA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Version 1.0     |   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164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System and How Does It Work?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0"/>
          </a:xfrm>
          <a:prstGeom prst="line">
            <a:avLst/>
          </a:prstGeom>
          <a:noFill/>
          <a:ln w="10160">
            <a:solidFill>
              <a:srgbClr val="BD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828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System  |  Board Proposal  |  Confidential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3886200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00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938528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tool that checks whether a signature on a document belongs to the person it claims to be from.
A customer's genuine signature is stored once when they open an account. Every time a signed document arrives — a cheque, a form, an agreement — the system compares it against that stored reference and returns a clear verdict.
</a:t>
            </a: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or NO MATCH, with a confidence score and a full audit trail.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508760"/>
            <a:ext cx="4434840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600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5104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19472" y="19385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with signature arrives at the bank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2414016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9472" y="23774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image is scanned and uploaded to the system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852928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9472" y="28163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cleans and standardises the image automatically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291840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9472" y="32552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converts the signature into a unique numerical pattern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730752"/>
            <a:ext cx="274320" cy="2743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9472" y="369417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compared against the customer's stored reference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4169664"/>
            <a:ext cx="274320" cy="27432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19472" y="41330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or NO MATCH returned in under 90-120 milliseconds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164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OUTCOMES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 and What We Can Achieve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across banking operations and measurable outcomes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0"/>
          </a:xfrm>
          <a:prstGeom prst="line">
            <a:avLst/>
          </a:prstGeom>
          <a:noFill/>
          <a:ln w="10160">
            <a:solidFill>
              <a:srgbClr val="BD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828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System  |  Board Proposal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USE CASES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462197"/>
              </p:ext>
            </p:extLst>
          </p:nvPr>
        </p:nvGraphicFramePr>
        <p:xfrm>
          <a:off x="320040" y="1783080"/>
          <a:ext cx="5212080" cy="223113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System Helps</a:t>
                      </a:r>
                      <a:endParaRPr lang="en-US" sz="10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Cheque 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signatures that do not match account holder records before clearing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&amp; Mortgage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signatory identity on high-value agreements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Opening / 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that forms are signed by the actual account holder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Approvals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that authorised signatories have signed payroll and expense 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recipient signature against enrolled customer 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760720" y="1481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OUTCOMES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1783080"/>
            <a:ext cx="14630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1892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92–95%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760720" y="2404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60920" y="1783080"/>
            <a:ext cx="14630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60920" y="18928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&lt;90ms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360920" y="2404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verify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2999232"/>
            <a:ext cx="14630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760720" y="3108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5760720" y="36210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360920" y="2999232"/>
            <a:ext cx="146304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60920" y="3108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yrs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360920" y="36210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4224528"/>
            <a:ext cx="8503920" cy="475488"/>
          </a:xfrm>
          <a:prstGeom prst="rect">
            <a:avLst/>
          </a:prstGeom>
          <a:solidFill>
            <a:srgbClr val="EAF2FB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2245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a decision-support tool. It reduces manual review workload — it does not replace human officer judgement for high-value or disputed transactions.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164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CONFIGURATION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Requirements and Threshold Settings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 for the system to work accurately?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0"/>
          </a:xfrm>
          <a:prstGeom prst="line">
            <a:avLst/>
          </a:prstGeom>
          <a:noFill/>
          <a:ln w="10160">
            <a:solidFill>
              <a:srgbClr val="BD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828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System  |  Board Proposal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STANDARDS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473942"/>
              </p:ext>
            </p:extLst>
          </p:nvPr>
        </p:nvGraphicFramePr>
        <p:xfrm>
          <a:off x="274320" y="1705356"/>
          <a:ext cx="5029200" cy="23042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95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95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95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DPI minimum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stroke detail is preserved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white paper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lines or colour confusing the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or dark blue pen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contrast against background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image compression that loses detail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Even, no shadows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creates false ink patterns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tilted &gt; 5°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Excessive rotation distorts matching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532120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THRESHOLD SETTINGS</a:t>
            </a:r>
            <a:endParaRPr lang="en-US" sz="9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077103"/>
              </p:ext>
            </p:extLst>
          </p:nvPr>
        </p:nvGraphicFramePr>
        <p:xfrm>
          <a:off x="5532120" y="1783080"/>
          <a:ext cx="3291840" cy="222656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Type</a:t>
                      </a:r>
                      <a:endParaRPr lang="en-US" sz="9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 cheque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NPR 50,000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Auto-approve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cheque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NPR 50K–500K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Auto-approve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 cheque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NPR 500,000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NO 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for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74320" y="4041648"/>
            <a:ext cx="8503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02920" y="4005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GUIDE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02920" y="4242816"/>
            <a:ext cx="155448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4242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– 1.0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167128" y="4242816"/>
            <a:ext cx="155448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167128" y="4242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 – 0.94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831336" y="4242816"/>
            <a:ext cx="1554480" cy="329184"/>
          </a:xfrm>
          <a:prstGeom prst="rect">
            <a:avLst/>
          </a:prstGeom>
          <a:solidFill>
            <a:srgbClr val="B86000"/>
          </a:solidFill>
          <a:ln w="12700">
            <a:solidFill>
              <a:srgbClr val="B86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31336" y="4242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– 0.89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495544" y="4242816"/>
            <a:ext cx="155448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95544" y="4242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– 0.84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159752" y="4242816"/>
            <a:ext cx="1554480" cy="329184"/>
          </a:xfrm>
          <a:prstGeom prst="rect">
            <a:avLst/>
          </a:prstGeom>
          <a:solidFill>
            <a:srgbClr val="B0253A"/>
          </a:solidFill>
          <a:ln w="12700">
            <a:solidFill>
              <a:srgbClr val="B0253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59752" y="42428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0.70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164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LIMITATIONS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Cycle and Known 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 once to make it work — and where human oversight is still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0"/>
          </a:xfrm>
          <a:prstGeom prst="line">
            <a:avLst/>
          </a:prstGeom>
          <a:noFill/>
          <a:ln w="10160">
            <a:solidFill>
              <a:srgbClr val="BD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828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System  |  Board Proposal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TRAINING WORKS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56232"/>
            <a:ext cx="8229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562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16152" y="18013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500+ signature samples — genuine and imitation — from a sample of customers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68296"/>
            <a:ext cx="8229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68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216152" y="23134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training on dedicated hardware (~1 hour with GPU)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822960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80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216152" y="282549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trained model to the production API server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392424"/>
            <a:ext cx="822960" cy="25603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924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16152" y="33375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enrol by uploading one reference signature — no retraining needed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904488"/>
            <a:ext cx="822960" cy="256032"/>
          </a:xfrm>
          <a:prstGeom prst="rect">
            <a:avLst/>
          </a:prstGeom>
          <a:solidFill>
            <a:srgbClr val="B86000"/>
          </a:solidFill>
          <a:ln w="12700">
            <a:solidFill>
              <a:srgbClr val="B86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04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216152" y="384962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misclassified cases from officer review queue and retrain to improve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4407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once. Enrol customers in seconds. Improve quarterly.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14813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1856232"/>
            <a:ext cx="54864" cy="310896"/>
          </a:xfrm>
          <a:prstGeom prst="rect">
            <a:avLst/>
          </a:prstGeom>
          <a:solidFill>
            <a:srgbClr val="B86000"/>
          </a:solidFill>
          <a:ln w="12700">
            <a:solidFill>
              <a:srgbClr val="B86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92–95%, not 100%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4920" y="1993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transactions always go to officer review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2404872"/>
            <a:ext cx="54864" cy="310896"/>
          </a:xfrm>
          <a:prstGeom prst="rect">
            <a:avLst/>
          </a:prstGeom>
          <a:solidFill>
            <a:srgbClr val="B86000"/>
          </a:solidFill>
          <a:ln w="12700">
            <a:solidFill>
              <a:srgbClr val="B86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enrolled reference first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74920" y="25467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must happen at account opening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37760" y="2953512"/>
            <a:ext cx="54864" cy="310896"/>
          </a:xfrm>
          <a:prstGeom prst="rect">
            <a:avLst/>
          </a:prstGeom>
          <a:solidFill>
            <a:srgbClr val="B86000"/>
          </a:solidFill>
          <a:ln w="12700">
            <a:solidFill>
              <a:srgbClr val="B86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affects results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74920" y="30906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scans produce unreliable scores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37760" y="3502152"/>
            <a:ext cx="54864" cy="310896"/>
          </a:xfrm>
          <a:prstGeom prst="rect">
            <a:avLst/>
          </a:prstGeom>
          <a:solidFill>
            <a:srgbClr val="B0253A"/>
          </a:solidFill>
          <a:ln w="12700">
            <a:solidFill>
              <a:srgbClr val="B025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forgeries can fool the system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74920" y="36347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alongside other checks, not standalone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37760" y="4050792"/>
            <a:ext cx="54864" cy="310896"/>
          </a:xfrm>
          <a:prstGeom prst="rect">
            <a:avLst/>
          </a:prstGeom>
          <a:solidFill>
            <a:srgbClr val="B0253A"/>
          </a:solidFill>
          <a:ln w="12700">
            <a:solidFill>
              <a:srgbClr val="B025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change over time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74920" y="41967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Re-enrolment needed every 1–2 years per customer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" y="164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 &amp; INVESTMENT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Deployment Plan and Resource Requirements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the Board to approve — and what will be delivered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0"/>
          </a:xfrm>
          <a:prstGeom prst="line">
            <a:avLst/>
          </a:prstGeom>
          <a:noFill/>
          <a:ln w="10160">
            <a:solidFill>
              <a:srgbClr val="BDC8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828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Verification System  |  Board Proposal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DEPLOYMENT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274320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01368"/>
            <a:ext cx="2743200" cy="38404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8013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Prototype &amp; Pilot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2311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 –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2523744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1 branch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500 customers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manual checking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accuracy on real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1801368"/>
            <a:ext cx="274320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1801368"/>
            <a:ext cx="2743200" cy="38404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8013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Assisted Mode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2311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 –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523744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shows recommendation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makes final decision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thresholds per transaction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misclassified cases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35624" y="1801368"/>
            <a:ext cx="2743200" cy="2697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1801368"/>
            <a:ext cx="27432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8013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Semi-Automated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45352" y="223113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 onwards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45352" y="2523744"/>
            <a:ext cx="2523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Low-value: auto-approve on high confidence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High-value: always officer review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model quarterly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branches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553712"/>
            <a:ext cx="8503920" cy="155448"/>
          </a:xfrm>
          <a:prstGeom prst="rect">
            <a:avLst/>
          </a:prstGeom>
          <a:solidFill>
            <a:srgbClr val="EAF2FB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55371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Developers  ·  6 weeks — Pilot build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423160" y="4590288"/>
            <a:ext cx="0" cy="73152"/>
          </a:xfrm>
          <a:prstGeom prst="line">
            <a:avLst/>
          </a:prstGeom>
          <a:noFill/>
          <a:ln w="10160">
            <a:solidFill>
              <a:srgbClr val="BDC8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455371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 Collector  ·  3 months — Signatures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26280" y="4590288"/>
            <a:ext cx="0" cy="73152"/>
          </a:xfrm>
          <a:prstGeom prst="line">
            <a:avLst/>
          </a:prstGeom>
          <a:noFill/>
          <a:ln w="10160">
            <a:solidFill>
              <a:srgbClr val="BDC8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55371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GPU Server  ·  Training + inference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629400" y="4590288"/>
            <a:ext cx="0" cy="73152"/>
          </a:xfrm>
          <a:prstGeom prst="line">
            <a:avLst/>
          </a:prstGeom>
          <a:noFill/>
          <a:ln w="10160">
            <a:solidFill>
              <a:srgbClr val="BDC8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455371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Officer  ·  Review queue oversight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817</Words>
  <Application>Microsoft Office PowerPoint</Application>
  <PresentationFormat>On-screen Show (16:9)</PresentationFormat>
  <Paragraphs>172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Signature Verification System — BOD Proposal</dc:title>
  <dc:subject>PptxGenJS Presentation</dc:subject>
  <dc:creator>Business Analyst</dc:creator>
  <cp:lastModifiedBy>Anish Chapagain</cp:lastModifiedBy>
  <cp:revision>3</cp:revision>
  <cp:lastPrinted>2026-03-16T01:49:11Z</cp:lastPrinted>
  <dcterms:created xsi:type="dcterms:W3CDTF">2026-03-16T01:33:48Z</dcterms:created>
  <dcterms:modified xsi:type="dcterms:W3CDTF">2026-03-16T01:52:15Z</dcterms:modified>
</cp:coreProperties>
</file>